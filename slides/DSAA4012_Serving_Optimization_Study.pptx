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817d56f02d4943" /><Relationship Type="http://schemas.openxmlformats.org/officeDocument/2006/relationships/extended-properties" Target="/docProps/app.xml" Id="R934e406f95214807" /><Relationship Type="http://schemas.openxmlformats.org/officeDocument/2006/relationships/officeDocument" Target="/ppt/presentation.xml" Id="R41f288a41e4549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13d8a3934348c8"/>
  </p:sldMasterIdLst>
  <p:notesMasterIdLst>
    <p:notesMasterId xmlns:r="http://schemas.openxmlformats.org/officeDocument/2006/relationships" r:id="Rc54f508ae94f485a"/>
  </p:notesMasterIdLst>
  <p:sldIdLst>
    <p:sldId xmlns:r="http://schemas.openxmlformats.org/officeDocument/2006/relationships" id="256" r:id="R536d732318df4d06"/>
    <p:sldId xmlns:r="http://schemas.openxmlformats.org/officeDocument/2006/relationships" id="257" r:id="R8ee6231832984fd4"/>
    <p:sldId xmlns:r="http://schemas.openxmlformats.org/officeDocument/2006/relationships" id="258" r:id="R82ea7e640b9b4286"/>
    <p:sldId xmlns:r="http://schemas.openxmlformats.org/officeDocument/2006/relationships" id="259" r:id="Re4b46c80a837449f"/>
    <p:sldId xmlns:r="http://schemas.openxmlformats.org/officeDocument/2006/relationships" id="260" r:id="R489bb230ebfe4710"/>
    <p:sldId xmlns:r="http://schemas.openxmlformats.org/officeDocument/2006/relationships" id="261" r:id="R32ae677a670848e4"/>
    <p:sldId xmlns:r="http://schemas.openxmlformats.org/officeDocument/2006/relationships" id="262" r:id="R4f4416f91dad4d25"/>
    <p:sldId xmlns:r="http://schemas.openxmlformats.org/officeDocument/2006/relationships" id="263" r:id="R1df1d780a3544a11"/>
    <p:sldId xmlns:r="http://schemas.openxmlformats.org/officeDocument/2006/relationships" id="264" r:id="Ra88f572387f84afc"/>
    <p:sldId xmlns:r="http://schemas.openxmlformats.org/officeDocument/2006/relationships" id="265" r:id="R478286592b184f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31da2e09a24f96" /><Relationship Type="http://schemas.openxmlformats.org/officeDocument/2006/relationships/slideMaster" Target="/ppt/slideMasters/slideMaster1.xml" Id="R7313d8a3934348c8" /><Relationship Type="http://schemas.openxmlformats.org/officeDocument/2006/relationships/notesMaster" Target="/ppt/notesMasters/notesMaster1.xml" Id="Rc54f508ae94f485a" /><Relationship Type="http://schemas.openxmlformats.org/officeDocument/2006/relationships/presProps" Target="/ppt/presProps.xml" Id="R2ed50ca4b93748c0" /><Relationship Type="http://schemas.openxmlformats.org/officeDocument/2006/relationships/tableStyles" Target="/ppt/tableStyles.xml" Id="R27e01da29e2f4a1c" /><Relationship Type="http://schemas.openxmlformats.org/officeDocument/2006/relationships/slide" Target="/ppt/slides/slide1.xml" Id="R536d732318df4d06" /><Relationship Type="http://schemas.openxmlformats.org/officeDocument/2006/relationships/slide" Target="/ppt/slides/slide2.xml" Id="R8ee6231832984fd4" /><Relationship Type="http://schemas.openxmlformats.org/officeDocument/2006/relationships/slide" Target="/ppt/slides/slide3.xml" Id="R82ea7e640b9b4286" /><Relationship Type="http://schemas.openxmlformats.org/officeDocument/2006/relationships/slide" Target="/ppt/slides/slide4.xml" Id="Re4b46c80a837449f" /><Relationship Type="http://schemas.openxmlformats.org/officeDocument/2006/relationships/slide" Target="/ppt/slides/slide5.xml" Id="R489bb230ebfe4710" /><Relationship Type="http://schemas.openxmlformats.org/officeDocument/2006/relationships/slide" Target="/ppt/slides/slide6.xml" Id="R32ae677a670848e4" /><Relationship Type="http://schemas.openxmlformats.org/officeDocument/2006/relationships/slide" Target="/ppt/slides/slide7.xml" Id="R4f4416f91dad4d25" /><Relationship Type="http://schemas.openxmlformats.org/officeDocument/2006/relationships/slide" Target="/ppt/slides/slide8.xml" Id="R1df1d780a3544a11" /><Relationship Type="http://schemas.openxmlformats.org/officeDocument/2006/relationships/slide" Target="/ppt/slides/slide9.xml" Id="Ra88f572387f84afc" /><Relationship Type="http://schemas.openxmlformats.org/officeDocument/2006/relationships/slide" Target="/ppt/slides/slide10.xml" Id="R478286592b184f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b6069544fc49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f30e08387d4280" /><Relationship Type="http://schemas.openxmlformats.org/officeDocument/2006/relationships/notesMaster" Target="/ppt/notesMasters/notesMaster1.xml" Id="R0927cdc2e22141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dad2b32a5d45b4" /><Relationship Type="http://schemas.openxmlformats.org/officeDocument/2006/relationships/notesMaster" Target="/ppt/notesMasters/notesMaster1.xml" Id="R7fd31f76ba8540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424e82c8a9464b" /><Relationship Type="http://schemas.openxmlformats.org/officeDocument/2006/relationships/notesMaster" Target="/ppt/notesMasters/notesMaster1.xml" Id="R16858f0894f349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109c8206264019" /><Relationship Type="http://schemas.openxmlformats.org/officeDocument/2006/relationships/notesMaster" Target="/ppt/notesMasters/notesMaster1.xml" Id="R2a99df40755e44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cd08b2188b4794" /><Relationship Type="http://schemas.openxmlformats.org/officeDocument/2006/relationships/notesMaster" Target="/ppt/notesMasters/notesMaster1.xml" Id="Rae8249b18f8145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0460dd411d4359" /><Relationship Type="http://schemas.openxmlformats.org/officeDocument/2006/relationships/notesMaster" Target="/ppt/notesMasters/notesMaster1.xml" Id="Rf4c26842d26042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eea7cc90024353" /><Relationship Type="http://schemas.openxmlformats.org/officeDocument/2006/relationships/notesMaster" Target="/ppt/notesMasters/notesMaster1.xml" Id="Rcc7b998516ba42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04a9d4f4864f60" /><Relationship Type="http://schemas.openxmlformats.org/officeDocument/2006/relationships/notesMaster" Target="/ppt/notesMasters/notesMaster1.xml" Id="R5c20570c762f49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52f70a2ef140a2" /><Relationship Type="http://schemas.openxmlformats.org/officeDocument/2006/relationships/notesMaster" Target="/ppt/notesMasters/notesMaster1.xml" Id="Rd8085e37160d4f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c2e5eed83a4a03" /><Relationship Type="http://schemas.openxmlformats.org/officeDocument/2006/relationships/notesMaster" Target="/ppt/notesMasters/notesMaster1.xml" Id="R0b022523ba4a40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report/latex/report.tex</a:t>
            </a:r>
          </a:p>
          <a:p xmlns:a="http://schemas.openxmlformats.org/drawingml/2006/main">
            <a:r>
              <a:t>- results/validation/hardware_dsaa4012_rerun.json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report/latex/report.tex, Sections II-A through II-C</a:t>
            </a:r>
          </a:p>
          <a:p xmlns:a="http://schemas.openxmlformats.org/drawingml/2006/main">
            <a:r>
              <a:t>- src/mlsys360/timing.py</a:t>
            </a:r>
          </a:p>
          <a:p xmlns:a="http://schemas.openxmlformats.org/drawingml/2006/main">
            <a:r>
              <a:t>- src/mlsys360/decode.py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docs/CORRECTION_AND_RERUN_CHECKLIST.md</a:t>
            </a:r>
          </a:p>
          <a:p xmlns:a="http://schemas.openxmlformats.org/drawingml/2006/main">
            <a:r>
              <a:t>- results/validation/corrected_results_audit.txt</a:t>
            </a:r>
          </a:p>
          <a:p xmlns:a="http://schemas.openxmlformats.org/drawingml/2006/main">
            <a:r>
              <a:t>- results/processed/cpu_epyc9654_baseline_last_logits.csv</a:t>
            </a:r>
          </a:p>
          <a:p xmlns:a="http://schemas.openxmlformats.org/drawingml/2006/main">
            <a:r>
              <a:t>- results/processed/gpu_rtx6000_ada_baseline_last_logits.csv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results/figures/corrected_baseline/tps_heatmap_HKUSTQLAB-6000ADA_cpu_float32_sdpa_cache-on_none_SmolLM2-360M.png</a:t>
            </a:r>
          </a:p>
          <a:p xmlns:a="http://schemas.openxmlformats.org/drawingml/2006/main">
            <a:r>
              <a:t>- results/figures/corrected_baseline/tps_heatmap_HKUSTQLAB-6000ADA_cuda_bfloat16_sdpa_cache-on_none_SmolLM2-360M.png</a:t>
            </a:r>
          </a:p>
          <a:p xmlns:a="http://schemas.openxmlformats.org/drawingml/2006/main">
            <a:r>
              <a:t>- results/processed/cpu_epyc9654_baseline_last_logits.csv</a:t>
            </a:r>
          </a:p>
          <a:p xmlns:a="http://schemas.openxmlformats.org/drawingml/2006/main">
            <a:r>
              <a:t>- results/processed/gpu_rtx6000_ada_baseline_last_logits.csv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results/processed/cpu_epyc9654_baseline_last_logits.csv</a:t>
            </a:r>
          </a:p>
          <a:p xmlns:a="http://schemas.openxmlformats.org/drawingml/2006/main">
            <a:r>
              <a:t>- results/processed/gpu_rtx6000_ada_baseline_last_logits.csv</a:t>
            </a:r>
          </a:p>
          <a:p xmlns:a="http://schemas.openxmlformats.org/drawingml/2006/main">
            <a:r>
              <a:t>- report/latex/report.tex, Section IV-A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results/processed/cpu_epyc9654_operator_last_logits.csv</a:t>
            </a:r>
          </a:p>
          <a:p xmlns:a="http://schemas.openxmlformats.org/drawingml/2006/main">
            <a:r>
              <a:t>- results/processed/gpu_rtx6000_ada_operator_last_logits.csv</a:t>
            </a:r>
          </a:p>
          <a:p xmlns:a="http://schemas.openxmlformats.org/drawingml/2006/main">
            <a:r>
              <a:t>- results/validation/gpu_attention_profile.txt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results/processed/cpu_epyc9654_cache_off_last_logits.csv</a:t>
            </a:r>
          </a:p>
          <a:p xmlns:a="http://schemas.openxmlformats.org/drawingml/2006/main">
            <a:r>
              <a:t>- results/processed/gpu_rtx6000_ada_cache_last_logits.csv</a:t>
            </a:r>
          </a:p>
          <a:p xmlns:a="http://schemas.openxmlformats.org/drawingml/2006/main">
            <a:r>
              <a:t>- report/latex/report.tex, Section IV-B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results/processed/cpu_epyc9654_quantization_w8a8_last_logits.csv</a:t>
            </a:r>
          </a:p>
          <a:p xmlns:a="http://schemas.openxmlformats.org/drawingml/2006/main">
            <a:r>
              <a:t>- results/raw/cpu_epyc9654_quality_arc_easy_w8a8_last_logits.jsonl</a:t>
            </a:r>
          </a:p>
          <a:p xmlns:a="http://schemas.openxmlformats.org/drawingml/2006/main">
            <a:r>
              <a:t>- results/raw/gpu_rtx6000_ada_quality_hellaswag.jsonl</a:t>
            </a:r>
          </a:p>
          <a:p xmlns:a="http://schemas.openxmlformats.org/drawingml/2006/main">
            <a:r>
              <a:t>- results/validation/gpu_torchao016_profile.txt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report/latex/report.tex, Sections IV-A through IV-D</a:t>
            </a:r>
          </a:p>
          <a:p xmlns:a="http://schemas.openxmlformats.org/drawingml/2006/main">
            <a:r>
              <a:t>- results/validation/corrected_results_audit.txt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report/latex/report.tex, Sections IV-D through VI</a:t>
            </a:r>
          </a:p>
          <a:p xmlns:a="http://schemas.openxmlformats.org/drawingml/2006/main">
            <a:r>
              <a:t>- results/validation/corrected_results_audit.txt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162236c79443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d0a21a5fd94d46" /><Relationship Type="http://schemas.openxmlformats.org/officeDocument/2006/relationships/slideLayout" Target="/ppt/slideLayouts/slideLayout1.xml" Id="R04d6661845014c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d6661845014c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405e567dd4d0b" /><Relationship Type="http://schemas.openxmlformats.org/officeDocument/2006/relationships/notesSlide" Target="/ppt/notesSlides/notesSlide1.xml" Id="R4e0543a9060644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266acaf0e43ff" /><Relationship Type="http://schemas.openxmlformats.org/officeDocument/2006/relationships/notesSlide" Target="/ppt/notesSlides/notesSlide2.xml" Id="Ra2b5468626ef40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cdb555ed8438c" /><Relationship Type="http://schemas.openxmlformats.org/officeDocument/2006/relationships/notesSlide" Target="/ppt/notesSlides/notesSlide3.xml" Id="Rc4ed761bdef04e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655f56ee24af5" /><Relationship Type="http://schemas.openxmlformats.org/officeDocument/2006/relationships/image" Target="/ppt/media/image.png" Id="R5dbc28cac7144c70" /><Relationship Type="http://schemas.openxmlformats.org/officeDocument/2006/relationships/image" Target="/ppt/media/image2.png" Id="Rf6c1c63fa74e4854" /><Relationship Type="http://schemas.openxmlformats.org/officeDocument/2006/relationships/notesSlide" Target="/ppt/notesSlides/notesSlide4.xml" Id="Rf2fb0d10982f47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6ccdef5d1499c" /><Relationship Type="http://schemas.openxmlformats.org/officeDocument/2006/relationships/chart" Target="/ppt/slides/charts/chart1.xml" Id="R2784179279844c4b" /><Relationship Type="http://schemas.openxmlformats.org/officeDocument/2006/relationships/notesSlide" Target="/ppt/notesSlides/notesSlide5.xml" Id="R149a8d7c15754a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4243c9db7474c" /><Relationship Type="http://schemas.openxmlformats.org/officeDocument/2006/relationships/chart" Target="/ppt/slides/charts/chart2.xml" Id="Ra6e2a5a93ceb4b13" /><Relationship Type="http://schemas.openxmlformats.org/officeDocument/2006/relationships/notesSlide" Target="/ppt/notesSlides/notesSlide6.xml" Id="R2fc2491ee81e4f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34060babe444a" /><Relationship Type="http://schemas.openxmlformats.org/officeDocument/2006/relationships/chart" Target="/ppt/slides/charts/chart3.xml" Id="R516761bbdcab4ebc" /><Relationship Type="http://schemas.openxmlformats.org/officeDocument/2006/relationships/notesSlide" Target="/ppt/notesSlides/notesSlide7.xml" Id="Rbabf75c96b2e40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38d03aa774e6a" /><Relationship Type="http://schemas.openxmlformats.org/officeDocument/2006/relationships/chart" Target="/ppt/slides/charts/chart4.xml" Id="Rfceca8f699aa4871" /><Relationship Type="http://schemas.openxmlformats.org/officeDocument/2006/relationships/notesSlide" Target="/ppt/notesSlides/notesSlide8.xml" Id="Rddbf4be3f9274f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c162bbad84089" /><Relationship Type="http://schemas.openxmlformats.org/officeDocument/2006/relationships/notesSlide" Target="/ppt/notesSlides/notesSlide9.xml" Id="R51de659ddc0a41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df4481aed41b2" /><Relationship Type="http://schemas.openxmlformats.org/officeDocument/2006/relationships/notesSlide" Target="/ppt/notesSlides/notesSlide10.xml" Id="R5f28f88c6a2a4ac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CPU TPS</c:v>
          </c:tx>
          <c:spPr>
            <a:solidFill xmlns:a="http://schemas.openxmlformats.org/drawingml/2006/main">
              <a:srgbClr val="3D8DFF"/>
            </a:solidFill>
          </c:spPr>
          <c:cat>
            <c:numLit>
              <c:formatCode>General</c:formatCode>
              <c:ptCount val="4"/>
              <c:pt idx="0">
                <c:v>128</c:v>
              </c:pt>
              <c:pt idx="1">
                <c:v>512</c:v>
              </c:pt>
              <c:pt idx="2">
                <c:v>2048</c:v>
              </c:pt>
              <c:pt idx="3">
                <c:v>4096</c:v>
              </c:pt>
            </c:numLit>
          </c:cat>
          <c:val>
            <c:numLit>
              <c:formatCode>General</c:formatCode>
              <c:ptCount val="4"/>
              <c:pt idx="0">
                <c:v>146.96</c:v>
              </c:pt>
              <c:pt idx="1">
                <c:v>119.91</c:v>
              </c:pt>
              <c:pt idx="2">
                <c:v>50.95</c:v>
              </c:pt>
              <c:pt idx="3">
                <c:v>25.01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6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4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CPU eager / SDPA TTFT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5"/>
              <c:pt idx="0">
                <c:v>128/1</c:v>
              </c:pt>
              <c:pt idx="1">
                <c:v>512/8</c:v>
              </c:pt>
              <c:pt idx="2">
                <c:v>2048/1</c:v>
              </c:pt>
              <c:pt idx="3">
                <c:v>2048/16</c:v>
              </c:pt>
              <c:pt idx="4">
                <c:v>4096/4</c:v>
              </c:pt>
            </c:str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1.51</c:v>
              </c:pt>
              <c:pt idx="2">
                <c:v>4.36</c:v>
              </c:pt>
              <c:pt idx="3">
                <c:v>3.67</c:v>
              </c:pt>
              <c:pt idx="4">
                <c:v>6.23</c:v>
              </c:pt>
            </c:numLit>
          </c:val>
        </c:ser>
        <c:ser>
          <c:idx val="1"/>
          <c:order val="1"/>
          <c:tx>
            <c:v>GPU eager / SDPA TTFT</c:v>
          </c:tx>
          <c:spPr>
            <a:ln xmlns:a="http://schemas.openxmlformats.org/drawingml/2006/main" w="38100">
              <a:solidFill>
                <a:srgbClr val="6DCBF4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5"/>
              <c:pt idx="0">
                <c:v>128/1</c:v>
              </c:pt>
              <c:pt idx="1">
                <c:v>512/8</c:v>
              </c:pt>
              <c:pt idx="2">
                <c:v>2048/1</c:v>
              </c:pt>
              <c:pt idx="3">
                <c:v>2048/16</c:v>
              </c:pt>
              <c:pt idx="4">
                <c:v>4096/4</c:v>
              </c:pt>
            </c:strLit>
          </c:cat>
          <c:val>
            <c:numLit>
              <c:formatCode>General</c:formatCode>
              <c:ptCount val="5"/>
              <c:pt idx="0">
                <c:v>1.4</c:v>
              </c:pt>
              <c:pt idx="1">
                <c:v>1.66</c:v>
              </c:pt>
              <c:pt idx="2">
                <c:v>2.38</c:v>
              </c:pt>
              <c:pt idx="3">
                <c:v>4.89</c:v>
              </c:pt>
              <c:pt idx="4">
                <c:v>9.34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GPU cache-off / cache-on TPOT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6"/>
              <c:pt idx="0">
                <c:v>128/1</c:v>
              </c:pt>
              <c:pt idx="1">
                <c:v>128/8</c:v>
              </c:pt>
              <c:pt idx="2">
                <c:v>512/1</c:v>
              </c:pt>
              <c:pt idx="3">
                <c:v>512/8</c:v>
              </c:pt>
              <c:pt idx="4">
                <c:v>2048/1</c:v>
              </c:pt>
              <c:pt idx="5">
                <c:v>2048/8</c:v>
              </c:pt>
            </c:strLit>
          </c:cat>
          <c:val>
            <c:numLit>
              <c:formatCode>General</c:formatCode>
              <c:ptCount val="6"/>
              <c:pt idx="0">
                <c:v>0.962</c:v>
              </c:pt>
              <c:pt idx="1">
                <c:v>0.951</c:v>
              </c:pt>
              <c:pt idx="2">
                <c:v>0.974</c:v>
              </c:pt>
              <c:pt idx="3">
                <c:v>0.962</c:v>
              </c:pt>
              <c:pt idx="4">
                <c:v>0.986</c:v>
              </c:pt>
              <c:pt idx="5">
                <c:v>4.221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TPS ratio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128/1</c:v>
              </c:pt>
              <c:pt idx="1">
                <c:v>512/8</c:v>
              </c:pt>
              <c:pt idx="2">
                <c:v>2048/1</c:v>
              </c:pt>
              <c:pt idx="3">
                <c:v>2048/16</c:v>
              </c:pt>
            </c:strLit>
          </c:cat>
          <c:val>
            <c:numLit>
              <c:formatCode>General</c:formatCode>
              <c:ptCount val="4"/>
              <c:pt idx="0">
                <c:v>2.49</c:v>
              </c:pt>
              <c:pt idx="1">
                <c:v>1.52</c:v>
              </c:pt>
              <c:pt idx="2">
                <c:v>2.19</c:v>
              </c:pt>
              <c:pt idx="3">
                <c:v>1.27</c:v>
              </c:pt>
            </c:numLit>
          </c:val>
        </c:ser>
        <c:ser>
          <c:idx val="1"/>
          <c:order val="1"/>
          <c:tx>
            <c:v>Peak RSS ratio</c:v>
          </c:tx>
          <c:spPr>
            <a:solidFill xmlns:a="http://schemas.openxmlformats.org/drawingml/2006/main">
              <a:srgbClr val="D0EDFA"/>
            </a:solidFill>
          </c:spPr>
          <c:cat>
            <c:strLit>
              <c:ptCount val="4"/>
              <c:pt idx="0">
                <c:v>128/1</c:v>
              </c:pt>
              <c:pt idx="1">
                <c:v>512/8</c:v>
              </c:pt>
              <c:pt idx="2">
                <c:v>2048/1</c:v>
              </c:pt>
              <c:pt idx="3">
                <c:v>2048/16</c:v>
              </c:pt>
            </c:strLit>
          </c:cat>
          <c:val>
            <c:numLit>
              <c:formatCode>General</c:formatCode>
              <c:ptCount val="4"/>
              <c:pt idx="0">
                <c:v>1.66</c:v>
              </c:pt>
              <c:pt idx="1">
                <c:v>1.17</c:v>
              </c:pt>
              <c:pt idx="2">
                <c:v>1.29</c:v>
              </c:pt>
              <c:pt idx="3">
                <c:v>1.12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BDEEF-B1E0-4266-A7D9-36E58D60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DSAA4012 ·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757C9-8B68-4483-BFCB-73C908A2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90675"/>
            <a:ext cx="990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Serving choices</a:t>
            </a:r>
          </a:p>
          <a:p xmlns:a="http://schemas.openxmlformats.org/drawingml/2006/main">
            <a:pPr algn="l">
              <a:buNone/>
              <a:defRPr sz="5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follow workload shape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3A0E1-E7A7-4772-885D-1C1C36A4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11391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B8652-DF94-41C2-AC7C-90521F1E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SmolLM2-360M-Instruct on AMD EPYC 9654 and RTX 6000 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1D1CF-AA5B-4F2B-8874-88E65C5A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Hanxiao · Haiyang Peng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6F00E-5452-40F4-B381-F0A504F1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TTFT · TPOT · throughput · memory · quality</a:t>
            </a:r>
          </a:p>
        </p:txBody>
      </p:sp>
    </p:spTree>
    <p:extLst>
      <p:ext uri="{BB962C8B-B14F-4D97-AF65-F5344CB8AC3E}">
        <p14:creationId xmlns:p14="http://schemas.microsoft.com/office/powerpoint/2010/main" val="5801307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CF29EA31-F003-420A-BF3B-DACF2FE2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501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experiment asks a frontier question—not a hardware contest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CDB4A-6FCE-41B4-9CD3-C4780D8E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A2944-975C-4247-B670-78772305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1239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How do batch and context reshape TTFT, TPOT, and decode throughput—and when do three serving interventions move that frontier?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5387B-0786-4C98-BEA4-D2074FED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095500"/>
            <a:ext cx="55340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74764-BFA1-409B-8798-70CB4707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24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 · PREFILL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F0C07-3959-4D43-A35D-FAE0BA62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765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Complete context → first token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27687-D49C-49FF-A26B-DC7EF723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004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TTFT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B35CA-E691-4749-A5CC-CAD7D574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95500"/>
            <a:ext cx="55340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49D04-DA9B-43FD-BE53-01915E6C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24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2 · DECODE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48A8EC-815F-453D-8F9D-53A68103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765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One token per sequence per step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9A6E8E-5096-4DD7-AD8A-BE08EA37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004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TPOT / TPS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8F76F-E744-4B7A-9A2E-802D8234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171950"/>
            <a:ext cx="55340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79242-55E2-4674-975F-36CD8A2F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00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E9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E9D65"/>
                </a:solidFill>
                <a:latin typeface="Helvetica Neue"/>
                <a:ea typeface="Helvetica Neue"/>
                <a:cs typeface="Helvetica Neue"/>
              </a:rPr>
              <a:t>3 · INTERVENE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A9FCC-C45D-483F-9A3F-06FA46D1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529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SDPA · KV cache · W8A8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24D16-B535-4EF0-A9D8-2A750DF7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27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normalized effect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2E1111-2E98-4129-B3AC-805E83C9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71950"/>
            <a:ext cx="55340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EDDD1-E737-468A-BDB6-84D3DD17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00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77D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77D00"/>
                </a:solidFill>
                <a:latin typeface="Helvetica Neue"/>
                <a:ea typeface="Helvetica Neue"/>
                <a:cs typeface="Helvetica Neue"/>
              </a:rPr>
              <a:t>4 · VALIDATE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C4779-4610-45A1-8133-05E787C8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529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memory · profiler · quality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9AC704-2722-402C-B9F5-8B9624D9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27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honest boundary</a:t>
            </a:r>
          </a:p>
        </p:txBody>
      </p:sp>
    </p:spTree>
    <p:extLst>
      <p:ext uri="{BB962C8B-B14F-4D97-AF65-F5344CB8AC3E}">
        <p14:creationId xmlns:p14="http://schemas.microsoft.com/office/powerpoint/2010/main" val="16047237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C3B1AE5B-FA79-4379-B41E-57F30483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353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one-line logits fix moved the measured memory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72FDF-4D1B-42DE-90C9-2D5E21B5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C2553-C214-46A4-97EA-69500167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1239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The original prefill materialized every vocabulary logit. Serving needs only the final position; schema v3 enforces this on every forward.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84486-866F-42EB-B84A-A0934905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952625"/>
            <a:ext cx="538162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9525">
            <a:solidFill>
              <a:srgbClr val="F2B8B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09C57-B740-4563-8608-D2E5B12D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71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94B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94B40"/>
                </a:solidFill>
                <a:latin typeface="Helvetica Neue"/>
                <a:ea typeface="Helvetica Neue"/>
                <a:cs typeface="Helvetica Neue"/>
              </a:rPr>
              <a:t>BEFORE · DIAGNOSTIC 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85025-E736-44AB-9FCF-40C6A76D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908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[B, L, V] logits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7DAEE-0434-4F3B-94E2-A3042B11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Artificial OOMs at 2048/128 and 4096/64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37B98-D953-44B4-9D54-D759CFB0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52625"/>
            <a:ext cx="53911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FF9F3"/>
          </a:solidFill>
          <a:ln xmlns:a="http://schemas.openxmlformats.org/drawingml/2006/main" w="9525">
            <a:solidFill>
              <a:srgbClr val="A8D9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ACF7E-9F59-48F2-B3BF-077F9873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71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E9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E9D65"/>
                </a:solidFill>
                <a:latin typeface="Helvetica Neue"/>
                <a:ea typeface="Helvetica Neue"/>
                <a:cs typeface="Helvetica Neue"/>
              </a:rPr>
              <a:t>AFTER · SUBMISSION GRADE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9D21D-AE3D-476F-B336-0260BD79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908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[B, 1, V] logits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B35CC-CFA7-43D2-8991-B2BBC454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9087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4096/128 succeeds at 31.95 GiB allocated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4A36E-E00E-43F9-A76E-FCAA420D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219575"/>
            <a:ext cx="3333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CCAEC-94D2-4F5C-AD32-4322CF87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27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E9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E9D65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2C194-148F-4144-9810-EAEDD6EE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43475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unit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D09557-50E7-4233-8824-00A4E379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19575"/>
            <a:ext cx="3333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1EC53-5057-4600-A360-1FC413E1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39102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27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7E7955-60DE-44FF-A3B6-1C7B9CB7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943475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baseline observations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A1A5B2-FECE-4BFA-BE3A-54358076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219575"/>
            <a:ext cx="3343275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2F050B-E8F3-4A83-BA5C-8AA1D114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391025"/>
            <a:ext cx="2924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27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100×2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AA3047-D05E-4E67-A5F6-8A0552F3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943475"/>
            <a:ext cx="2924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rotated headline repetitions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7EBA8D-4355-454C-A1CA-211C7EDA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7721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Lesson: measurement semantics can dominate the apparent systems boundary.</a:t>
            </a:r>
          </a:p>
        </p:txBody>
      </p:sp>
    </p:spTree>
    <p:extLst>
      <p:ext uri="{BB962C8B-B14F-4D97-AF65-F5344CB8AC3E}">
        <p14:creationId xmlns:p14="http://schemas.microsoft.com/office/powerpoint/2010/main" val="20854586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16DB1ABF-D8B7-4EE2-B0C7-9F99CF40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01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Batching pays until long context turns latency and memory into constraints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209AC-A561-419C-9CB4-7EB53C2B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47298-4F0F-4B57-AFA9-6DA45D4B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1239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CPU · ONE EPYC SOCKET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9989B-77C1-4B9C-9EC8-524BCD6B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1239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GPU0 · RTX 6000 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3E2F3-B4FA-43C6-843D-B09CCEBF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57325"/>
            <a:ext cx="542925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7411B-C8FA-4345-B1B7-057A6CAC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57325"/>
            <a:ext cx="554355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c28cac7144c70"/>
          <a:stretch xmlns:a="http://schemas.openxmlformats.org/drawingml/2006/main"/>
        </p:blipFill>
        <p:spPr>
          <a:xfrm xmlns:a="http://schemas.openxmlformats.org/drawingml/2006/main">
            <a:off x="909638" y="2138363"/>
            <a:ext cx="4429125" cy="2657475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1c63fa74e4854"/>
          <a:stretch xmlns:a="http://schemas.openxmlformats.org/drawingml/2006/main"/>
        </p:blipFill>
        <p:spPr>
          <a:xfrm xmlns:a="http://schemas.openxmlformats.org/drawingml/2006/main">
            <a:off x="6362700" y="2138363"/>
            <a:ext cx="5314950" cy="26574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42BCA-D54E-4FAE-AF36-D01B7717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7150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CPU knees: 2048/16 · 4096/8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18D9C-714B-475C-B0C3-D1A45A1A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150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GPU knee: only 4096/128</a:t>
            </a:r>
          </a:p>
        </p:txBody>
      </p:sp>
    </p:spTree>
    <p:extLst>
      <p:ext uri="{BB962C8B-B14F-4D97-AF65-F5344CB8AC3E}">
        <p14:creationId xmlns:p14="http://schemas.microsoft.com/office/powerpoint/2010/main" val="1158725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32D90B94-70CD-4C60-B4FC-11B960B8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342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GPU scaling persists; CPU knees arrive earlier at long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EDDC4-2243-47E7-A4EF-5423AC97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14D08-DBA8-4D7E-89D2-7787A5EE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Peak median decode throughput within each tested grid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09575" y="1476375"/>
          <a:ext xmlns:a="http://schemas.openxmlformats.org/drawingml/2006/main" cx="5334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84179279844c4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38269-102E-444A-8F19-90321083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38275"/>
            <a:ext cx="5524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AD4F7-BCEC-486C-A539-988BDA5C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2,974 TPS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AE490-DA67-43BD-8FDD-1594B5B2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GPU · ctx 128 · batch 128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417A9-0908-4371-9318-CFAE576A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81325"/>
            <a:ext cx="5524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25C2F-5331-405B-9E45-D3F514BE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62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2,701 TPS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7EA87-7413-41BF-BA32-14A42D7A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33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GPU · ctx 2048 · batch 128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C71C23-D590-45A7-876E-5E5D40BD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24375"/>
            <a:ext cx="5524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FA742-FEEE-4DE7-ACE0-CCEC99FF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05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E9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E9D65"/>
                </a:solidFill>
                <a:latin typeface="Helvetica Neue"/>
                <a:ea typeface="Helvetica Neue"/>
                <a:cs typeface="Helvetica Neue"/>
              </a:rPr>
              <a:t>1,438 TPS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E73B6-3381-4E0C-AA11-9B937018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76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GPU · ctx 4096 · batch 128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BD445-84BF-41C7-8CBB-170D555F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048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Absolute CPU/GPU values are separate hardware lines; compare scaling behavior, not fairness.</a:t>
            </a:r>
          </a:p>
        </p:txBody>
      </p:sp>
    </p:spTree>
    <p:extLst>
      <p:ext uri="{BB962C8B-B14F-4D97-AF65-F5344CB8AC3E}">
        <p14:creationId xmlns:p14="http://schemas.microsoft.com/office/powerpoint/2010/main" val="1425945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3826B213-A6C6-47E8-9585-2479C30F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SDPA becomes decisive as contexts 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98D36-E7E7-426D-9DA1-462DC099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09575" y="1381125"/>
          <a:ext xmlns:a="http://schemas.openxmlformats.org/drawingml/2006/main" cx="6667500" cy="4495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e2a5a93ceb4b1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E872D-606D-4EC1-A727-D869F900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43624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62D84-ADA8-4728-8403-23042C84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71650"/>
            <a:ext cx="394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27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9.34×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E4970-F690-4496-8995-C9810198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2410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GPU TTFT at 4096/4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B6861-E785-463D-BC24-4205DC75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86100"/>
            <a:ext cx="43624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C819A-04A9-4C87-8784-B1095C04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57550"/>
            <a:ext cx="394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27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6.23×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D0EE7-25D5-4A2F-B9DF-86054355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1000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CPU TTFT at 4096/4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199C4-1FD4-4EF1-AF8A-F5A4E176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72000"/>
            <a:ext cx="4362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9309C-37F3-483F-9D9C-3FAAA4D2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625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E9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E9D65"/>
                </a:solidFill>
                <a:latin typeface="Helvetica Neue"/>
                <a:ea typeface="Helvetica Neue"/>
                <a:cs typeface="Helvetica Neue"/>
              </a:rPr>
              <a:t>PROFILER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53A2E-D990-4C94-B4AC-17A890A2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958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eager: bmm + softmax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074D30-2EBE-4942-AC1A-16AFB6C3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911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SDPA: pytorch_flash::flash_fwd_kernel</a:t>
            </a:r>
          </a:p>
        </p:txBody>
      </p:sp>
    </p:spTree>
    <p:extLst>
      <p:ext uri="{BB962C8B-B14F-4D97-AF65-F5344CB8AC3E}">
        <p14:creationId xmlns:p14="http://schemas.microsoft.com/office/powerpoint/2010/main" val="954507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A6C82735-4427-4815-8F40-703C2091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2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KV caching is a workload-dependent crossover—not a universal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B4FB3-F401-483F-82C8-2F4B207C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09575" y="1428750"/>
          <a:ext xmlns:a="http://schemas.openxmlformats.org/drawingml/2006/main" cx="638175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6761bbdcab4eb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B42DA-FDF6-493C-AF0C-9A8169DB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14475"/>
            <a:ext cx="45529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9CA8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60E01-3B9A-4084-91D6-04A23E6E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526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77D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77D00"/>
                </a:solidFill>
                <a:latin typeface="Helvetica Neue"/>
                <a:ea typeface="Helvetica Neue"/>
                <a:cs typeface="Helvetica Neue"/>
              </a:rPr>
              <a:t>SMALL GPU LOADS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83773-79DA-4427-AE3C-B5F15F0B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356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cache-off is 1–5% faster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22414-D515-4823-A65E-2CA66D5C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47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bookkeeping outweighs recomputation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3D181-717E-45FB-9B8A-A521745E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48050"/>
            <a:ext cx="45529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FF9F3"/>
          </a:solidFill>
          <a:ln xmlns:a="http://schemas.openxmlformats.org/drawingml/2006/main" w="9525">
            <a:solidFill>
              <a:srgbClr val="A8D9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1E47C-8F86-40BD-92B1-DC1EF431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861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E9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E9D65"/>
                </a:solidFill>
                <a:latin typeface="Helvetica Neue"/>
                <a:ea typeface="Helvetica Neue"/>
                <a:cs typeface="Helvetica Neue"/>
              </a:rPr>
              <a:t>LONG / BATCHED LOADS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00C63-6764-447B-A720-7DEB1708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767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356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4.22× slower without cache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8105E-DAD4-4E26-B03D-349BE846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815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CPU repeated points: 1.85×–17.62×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096FE-0208-4C5A-8508-78482EF8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000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Single CPU 2048/8 boundary: 88.99× and 891.7 s—reported as a boundary, not a percentile.</a:t>
            </a:r>
          </a:p>
        </p:txBody>
      </p:sp>
    </p:spTree>
    <p:extLst>
      <p:ext uri="{BB962C8B-B14F-4D97-AF65-F5344CB8AC3E}">
        <p14:creationId xmlns:p14="http://schemas.microsoft.com/office/powerpoint/2010/main" val="14285962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0B1D35FA-E6D4-41E3-B98B-9B60483B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21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CPU W8A8 buys speed—not memory—and loses substantial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06228-E080-4296-A5DE-F99E57FD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09575" y="1457325"/>
          <a:ext xmlns:a="http://schemas.openxmlformats.org/drawingml/2006/main" cx="6143625" cy="4210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eca8f699aa487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11385-AA97-4944-9FFD-5A4DBE10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14475"/>
            <a:ext cx="4791075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91CCF-9FC9-4D28-8DDA-3D80FEE3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685925"/>
            <a:ext cx="4371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27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C94B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C94B40"/>
                </a:solidFill>
                <a:latin typeface="Helvetica Neue"/>
                <a:ea typeface="Helvetica Neue"/>
                <a:cs typeface="Helvetica Neue"/>
              </a:rPr>
              <a:t>11.27 → 44.16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34A0A-08F4-4246-AC36-746C074B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238375"/>
            <a:ext cx="4371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WikiText-2 perplexity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96AD2-A187-4A86-B4E7-ECAC62E4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4791075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D9794-AB21-4B6E-A894-DADD36A1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171825"/>
            <a:ext cx="4371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27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C94B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C94B40"/>
                </a:solidFill>
                <a:latin typeface="Helvetica Neue"/>
                <a:ea typeface="Helvetica Neue"/>
                <a:cs typeface="Helvetica Neue"/>
              </a:rPr>
              <a:t>56.44% → 42.21%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0F29E-7CBC-4E6F-91CB-716AE7F1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724275"/>
            <a:ext cx="4371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ARC-Easy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5449B-2CE9-4AC0-ACBF-A5BC03A3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86275"/>
            <a:ext cx="479107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DCED4-1A2A-4838-8FE4-007D268A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6672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77D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77D00"/>
                </a:solidFill>
                <a:latin typeface="Helvetica Neue"/>
                <a:ea typeface="Helvetica Neue"/>
                <a:cs typeface="Helvetica Neue"/>
              </a:rPr>
              <a:t>GPU NEGATIVE PROBE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C2189-5B8B-4B8F-9BA3-995B10AC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0577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real INT8 GEMMs · 9,025 D→H scalars · 0.21 TPS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CA6818-E3DE-4BCD-A2AB-51207AB4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5312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224 Transformer linears quantized; lm_head remains FP32. This recipe is not quality-preserving.</a:t>
            </a:r>
          </a:p>
        </p:txBody>
      </p:sp>
    </p:spTree>
    <p:extLst>
      <p:ext uri="{BB962C8B-B14F-4D97-AF65-F5344CB8AC3E}">
        <p14:creationId xmlns:p14="http://schemas.microsoft.com/office/powerpoint/2010/main" val="757285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D1A237A2-953D-486C-8B75-76F07928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10810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right optimization follows the workload region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11CD4-D4CE-447B-BB66-115084CC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634EA-9434-463B-8322-A196E0AD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A practical selection map from the measured frontier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25C0E-67AD-4139-98C5-6E814C8F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00200"/>
            <a:ext cx="5534025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8B44D-F5A5-45DD-A96E-8C2B86E2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28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77D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77D00"/>
                </a:solidFill>
                <a:latin typeface="Helvetica Neue"/>
                <a:ea typeface="Helvetica Neue"/>
                <a:cs typeface="Helvetica Neue"/>
              </a:rPr>
              <a:t>SHORT · SMALL BATCH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6427B-2DBA-4229-B1C2-62595BD2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190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Overhead dominates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3779C-1A47-40AE-B571-31F5413C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7652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GPU cache may hurt slightly. Keep the path simple; measure before enabling more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3A6DD-F5F0-4460-ADED-2D47FE5D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00200"/>
            <a:ext cx="5534025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A316B-4CBB-42F4-A79C-470B3718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28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SHORT · LARGE BATCH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DE38C-AD02-40B6-B8E8-9B428F97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90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Utilization wins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BF548-522D-4191-BEC8-765C1051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7652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Increase batch: GPU TPS still rises to batch 128; CPU gains remain context-dependent.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63B1CB-25F9-4762-AEDC-A939C0EB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848100"/>
            <a:ext cx="5534025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CEEAB-C851-4C00-8055-C31849C0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7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LONG · SMALL BATCH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E6F9E-94DF-429C-B096-05D49AD0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38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Attention dominates prefill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820961-0591-49F3-91E4-919D9F95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92442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Use SDPA. TTFT advantage grows sharply with context on both hardware lines.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98DC5B-73F9-4AB6-8448-31EC3BB9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48100"/>
            <a:ext cx="5534025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30EC3-4A59-4CB5-A40A-32E6E859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7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E9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E9D65"/>
                </a:solidFill>
                <a:latin typeface="Helvetica Neue"/>
                <a:ea typeface="Helvetica Neue"/>
                <a:cs typeface="Helvetica Neue"/>
              </a:rPr>
              <a:t>LONG · LARGE BATCH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743AEB-F9A6-48A8-BB23-911BAC69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38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Cache + memory set the boundary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3AAC1D-B98F-4E8B-B1B5-10F7398D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92442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Keep KV cache, budget activations, and expect latency to rise before throughput plateaus.</a:t>
            </a:r>
          </a:p>
        </p:txBody>
      </p:sp>
    </p:spTree>
    <p:extLst>
      <p:ext uri="{BB962C8B-B14F-4D97-AF65-F5344CB8AC3E}">
        <p14:creationId xmlns:p14="http://schemas.microsoft.com/office/powerpoint/2010/main" val="18627585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22575EF0-9119-45C3-BFFC-F69A8164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11296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Three conclusions—and three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050C3-1467-4DC0-8C2C-2AA4AE45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2BB3B-6869-42BB-A220-813E87C0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2001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E9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E9D65"/>
                </a:solidFill>
                <a:latin typeface="Helvetica Neue"/>
                <a:ea typeface="Helvetica Neue"/>
                <a:cs typeface="Helvetica Neue"/>
              </a:rPr>
              <a:t>WHAT THE DATA SUPPORTS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68544-C3BB-49C8-854D-8A81F3B5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70497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ED1AD-905B-45AF-A3EF-3A1F73DB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510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 · Workload shape defines the frontier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A64D6-C1B6-4332-87B5-148F2626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52625"/>
            <a:ext cx="510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Long context changes both batching knees and memory pressure.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6CBE0-72E2-4FA4-A0C7-435B5CFD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7622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A2CFF-980F-4FD1-A75E-12652D0E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95575"/>
            <a:ext cx="510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 · SDPA is the clearest general win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E9EF2-C6F7-4C2E-B692-0D2C559F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09900"/>
            <a:ext cx="510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Its value grows with context; profiling confirms the fused kernel.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36D52-D1E6-4F3C-85E4-BD506234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81952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9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32C98-59F4-4262-8CAF-18EB133D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52850"/>
            <a:ext cx="510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 · Cache and W8A8 require qualification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6F6414-CED6-4454-BBBE-7D0C96D0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67175"/>
            <a:ext cx="510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Cache crosses over; W8A8 speeds CPU but raises RSS and hurts quality.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395DB-5400-4F71-8A64-43645533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00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77D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77D00"/>
                </a:solidFill>
                <a:latin typeface="Helvetica Neue"/>
                <a:ea typeface="Helvetica Neue"/>
                <a:cs typeface="Helvetica Neue"/>
              </a:rPr>
              <a:t>WHAT THIS STUDY DOES NOT CLAIM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3CD857-35F7-42CA-89C7-EE8527FF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0497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77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8BA15E-7B1A-4DDD-A69B-60F421E6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3830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 production scheduler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7F0E5A-D7E6-46A9-8CD5-00A2C1E3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52625"/>
            <a:ext cx="508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Synchronous, model-only timing excludes networking and queueing.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999C24-F8AA-49CC-AB4C-25B95E9F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77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48EE13-D979-4432-B4E6-80C67D9C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95575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 universal CPU–GPU fairness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70DD7F-D692-477F-93B9-36B75B0E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9900"/>
            <a:ext cx="508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Hardware lines are interpreted independently.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4A7F1D-360A-4415-9462-00DAF859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952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77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56DCCD-5A21-469A-A3BC-64EF6103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One model and one stable GPU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560486-F864-4AB1-BF51-A4657E5F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67175"/>
            <a:ext cx="5086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Generalization requires more models, runtimes, and continuous batching.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C2D686-D8B9-4625-8D18-559346CC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210175"/>
            <a:ext cx="11382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282F6-88D3-45EB-81CC-4C600818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4673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Takeaway: optimize the region you actually serve.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C38C54-D5CA-4F73-82D3-E7E6F53D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56260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5467746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2026-07-25T08:00:08.2040000Z</dcterms:created>
  <dcterms:modified xsi:type="dcterms:W3CDTF">2026-07-25T08:00:08.2040000Z</dcterms:modified>
</coreProperties>
</file>